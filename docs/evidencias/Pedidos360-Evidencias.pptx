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Calibri"/>
              </a:rPr>
              <a:t>Pedidos360 — Evidencias EP2/EP3/EP4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A7A"/>
                </a:solidFill>
                <a:latin typeface="Calibri"/>
              </a:rPr>
              <a:t>DSY1107 · Desarrollo Cloud Native I · mensajeria RabbitMQ +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SPA Angular + MSAL (PKCE) → API Gateway (JWT) → ALB → EC2 Spring Boot → RabbitMQ</a:t>
            </a:r>
            <a:br/>
            <a:r>
              <a:t>Generado: 2026-09-22 19:29:47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Pedidos360 · Arquitectura y entorno (EP2)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Navegador (SPA + MSAL PKCE) → API Gateway (JWT authorizer) → ALB → EC2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Tenant (IDaaS)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916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0b4bca41-b3f5-427c-aeac-2dbcd055f91d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Azure AD / Entra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Dominio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2199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matiaspulgar.onmicrosoft.com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22219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onmicrosoft.com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523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SPA clientId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5234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54b906c8-47fb-4066-a49a-b3aa7f05427e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7523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public client · PKCE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826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API clientId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282696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6da3f8f4-905c-4c76-abf0-c711d0dd3926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32826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expose: access_as_user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13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Scope / Issuer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81304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api://6da3f8f4-905c-4c76-abf0-c711d0dd3926/access_as_user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813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https://sts.windows.net/0b4bca41-b3f5-427c-aeac-2dbcd055f91d/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API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343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https://pyb1wkfvcg.execute-api.us-east-2.amazonaws.com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4343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region us-east-2 · stage 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Web pública (S3+CloudFront)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87375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https://d2u1dalj9nm2b1.cloudfront.net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48737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build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0410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Backend EC2 (ALB)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540410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http://pedidos360-alb-dev-2080390497.us-east-2.elb.amazonaws.com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5404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health check público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01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Usuarios de prueba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318504"/>
            <a:ext cx="7498079" cy="384048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maria@matiaspulgar.onmicrosoft.com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6318504"/>
            <a:ext cx="3291840" cy="384048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rol PEDIDOS_VENDEDOR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775704"/>
            <a:ext cx="7498079" cy="384048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jose@matiaspulgar.onmicrosoft.com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6775704"/>
            <a:ext cx="329184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rol PEDIDOS_ADMIN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 · Rutas del API Manager (API Gateway HTTP) — Indicador 1 (13%) · 2 · CORS (7%)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Rutas · JWT authorizer + scope access_as_user en TODAS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63624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36776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09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934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backend /health 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176272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488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/api/pedidos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listar pedidos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42615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715768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883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/api/pedidos/{id}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5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detalle por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82111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255263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2278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/api/pedidos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27831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crear pedido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21607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3794759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7673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/api/pedidos/{id}/estado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67327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cambiar estado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61103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334255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30682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/api/pedidos/{id}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06823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eliminar pedido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00599"/>
            <a:ext cx="6949440" cy="475488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4873751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8463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onsolas"/>
              </a:rPr>
              <a:t>/{proxy+}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1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alibri"/>
              </a:rPr>
              <a:t>catch-all con JWT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Configuración CORS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15819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AllowOrigins:  http://localhost:4200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19" y="185623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               https://d2u1dalj9nm2b1.cloudfront.net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21305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AllowMethods:  GET, POST, PATCH, DELETE, OPTIONS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24048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AllowHeaders:  Authorization, Content-Type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19" y="267919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ExposeHeaders: Authorization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2953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MaxAge:        3600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19" y="3227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Reject OPTIONS con 204 en preflight vía API Gateway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828032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A7A"/>
                </a:solidFill>
                <a:latin typeface="Calibri"/>
              </a:rPr>
              <a:t>[Captura pendiente: consola AWS → API Gateway → Routes + CORS]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 · Tenant de Azure AD (IDaaS) — Indicador 3 (10%)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onsolas"/>
              </a:rPr>
              <a:t>Tenant Directory ID: 0b4bca41-b3f5-427c-aeac-2dbcd055f91d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onsolas"/>
              </a:rPr>
              <a:t>Dominio: matiaspulgar.onmicrosoft.com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A"/>
                </a:solidFill>
                <a:latin typeface="Calibri"/>
              </a:rPr>
              <a:t>Usuarios profesionales creados en el tenant y publicados en el access_token (claims y roles).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7498079" cy="402336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maria@matiaspulgar.onmicrosoft.com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880360"/>
            <a:ext cx="3291840" cy="402336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rol PEDIDOS_VENDEDOR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55848"/>
            <a:ext cx="7498079" cy="402336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jose@matiaspulgar.onmicrosoft.com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355848"/>
            <a:ext cx="3291840" cy="40233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rol PEDIDOS_ADMIN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A7A"/>
                </a:solidFill>
                <a:latin typeface="Calibri"/>
              </a:rPr>
              <a:t>[Captura pendiente: Azure portal → Entra ID → Overview + Users]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 · Aplicaciones en el tenant — Indicador 4 (10%)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743200" cy="45720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SPA (público)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3075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54b906c8-47fb-4066-a49a-b3aa7f05427e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3075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redirect: localhost:4200 + CloudFront · public client flows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47088"/>
            <a:ext cx="2743200" cy="45720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pedidos-api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7451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6da3f8f4-905c-4c76-abf0-c711d0dd3926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Expose an API → access_as_user · App roles PEDIDOS_ADMIN / _VENDEDOR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Calibri"/>
              </a:rPr>
              <a:t>Claim aud = api://6da3f8f4-... · scope access_as_user · roles pedidos_admin / pedidos_vendedor (fields en minúsculas, normalizados a ROLE_PEDIDOS_*).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16936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A7A"/>
                </a:solidFill>
                <a:latin typeface="Calibri"/>
              </a:rPr>
              <a:t>[Captura pendiente: App registrations + Expose an API + App roles]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 · Registro + Login (10%) · 6 · OIDC Authorization Code + PKCE (15%)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MSAL v5 · interactionType Redirect · response_type=code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1. El SPA genera code_verifier aleatorio + code_challenge (SHA-256, S256).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2. /authorize?response_type=code&amp;code_challenge=...&amp;state=...&amp;nonce=... → login Azure.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3. Azure redirige con el code; MSAL lo canjea en el token endpoint (sin secretos).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4. access_token aud=api://... scope=access_as_user → interceptor agrega Authorization: Bearer.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5. El API Manager y el backend REVALIDAN firma JWKS, issuer y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Calibri"/>
              </a:rPr>
              <a:t>Nunca se usa implicit: el token nunca va en la URL; code + PKCE protege contra replay/CSRF.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06A7A"/>
                </a:solidFill>
                <a:latin typeface="Calibri"/>
              </a:rPr>
              <a:t>[Captura pendiente: login + DevTools /authorize?...code_challenge=S256]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7/8 · JWT en todas las rutas — Matriz 401 / 403 / 200 / 201 (20% + 15%)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A"/>
                </a:solidFill>
                <a:latin typeface="Consolas"/>
              </a:rPr>
              <a:t>Endpoint: https://pyb1wkfvcg.execute-api.us-east-2.amazonaws.com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B3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" y="1426464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/api/pedidos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401 · OK · 661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B3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1" y="1426464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444752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/api/pedidos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1773936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401 · OK · 166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011680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B3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1426464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444752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/api/pedidos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773936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401 · OK · 621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79776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2834640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852928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/api/pedidos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82112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200 · OK · 522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19856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[</a:t>
            </a:r>
            <a:br/>
            <a:r>
              <a:t>  {</a:t>
            </a:r>
            <a:br/>
            <a:r>
              <a:t>    "id": 1,</a:t>
            </a:r>
            <a:br/>
            <a:r>
              <a:t>    "cliente": "Ana GÃ³mez",</a:t>
            </a:r>
            <a:br/>
            <a:r>
              <a:t>    "email": "ana@acme.com",</a:t>
            </a:r>
            <a:br/>
            <a:r>
              <a:t>    "items": [</a:t>
            </a:r>
            <a:br/>
            <a:r>
              <a:t>    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2779776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70831" y="2834640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2852928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/api/pedidos/7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3182112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200 · OK · 470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3419856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{</a:t>
            </a:r>
            <a:br/>
            <a:r>
              <a:t>  "id": 7,</a:t>
            </a:r>
            <a:br/>
            <a:r>
              <a:t>  "cliente": "Fixture Evidencia",</a:t>
            </a:r>
            <a:br/>
            <a:r>
              <a:t>  "email": "fx@acme.com",</a:t>
            </a:r>
            <a:br/>
            <a:r>
              <a:t>  "items": [</a:t>
            </a:r>
            <a:br/>
            <a:r>
              <a:t>    "Item"...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779776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65592" y="2834640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52928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POST /api/pedidos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182112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201 · OK · 827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419856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{</a:t>
            </a:r>
            <a:br/>
            <a:r>
              <a:t>  "id": 8,</a:t>
            </a:r>
            <a:br/>
            <a:r>
              <a:t>  "cliente": "Cliente Evidencia",</a:t>
            </a:r>
            <a:br/>
            <a:r>
              <a:t>  "email": "demo@acme.com",</a:t>
            </a:r>
            <a:br/>
            <a:r>
              <a:t>  "items": [</a:t>
            </a:r>
            <a:br/>
            <a:r>
              <a:t>    "Lap...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87952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C8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6072" y="4242816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261104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PATCH /api/pedidos/7/estado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590288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403 · OK · 709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828032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4187952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C8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70831" y="4242816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9" y="4261104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DELETE /api/pedidos/7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19" y="4590288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403 · OK · 451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19" y="4828032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4187952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65592" y="4242816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261104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PATCH /api/pedidos/7/estado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590288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200 · OK · 838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4828032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{</a:t>
            </a:r>
            <a:br/>
            <a:r>
              <a:t>  "id": 7,</a:t>
            </a:r>
            <a:br/>
            <a:r>
              <a:t>  "cliente": "Fixture Evidencia",</a:t>
            </a:r>
            <a:br/>
            <a:r>
              <a:t>  "email": "fx@acme.com",</a:t>
            </a:r>
            <a:br/>
            <a:r>
              <a:t>  "items": [</a:t>
            </a:r>
            <a:br/>
            <a:r>
              <a:t>    "Item"...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596128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6072" y="5650992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5669280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DELETE /api/pedidos/7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998464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204 · OK · 547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236208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(cuerpo vacío)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79" y="5596128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70831" y="5650992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79" y="5669280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OPTIONS /api/pedidos (preflight CORS)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19" y="5998464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204 · OK · 0 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19" y="6236208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Access-Control-Allow-Origin: http://localhost:4200</a:t>
            </a:r>
            <a:br/>
            <a:r>
              <a:t>Access-Control-Allow-Methods: DELETE,GET,OPTI...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92440" y="5596128"/>
            <a:ext cx="370332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778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65592" y="5650992"/>
            <a:ext cx="777240" cy="310896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5669280"/>
            <a:ext cx="2697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onsolas"/>
              </a:rPr>
              <a:t>GET /health (ALB directo)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5998464"/>
            <a:ext cx="3520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7A43"/>
                </a:solidFill>
                <a:latin typeface="Consolas"/>
              </a:rPr>
              <a:t>esperado 200 · OK · 0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6236208"/>
            <a:ext cx="35204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42933"/>
                </a:solidFill>
                <a:latin typeface="Consolas"/>
              </a:rPr>
              <a:t>{</a:t>
            </a:r>
            <a:br/>
            <a:r>
              <a:t>  "status": "OK"</a:t>
            </a:r>
            <a:br/>
            <a:r>
              <a:t>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A"/>
                </a:solidFill>
                <a:latin typeface="Calibri"/>
              </a:rPr>
              <a:t>[Opcional: captura DevTools Red → petición a /api/pedidos → cabeceras Authorization: Bearer ...]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Indicadores EP2 — cumplimiento 8/8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Rutas del API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408176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8366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CORS en el API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920240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95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Crear tenant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432304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07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Configurar app en tenant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944368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198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198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Flujo registro + login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3456432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OIDC Authorization Code + PKCE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968496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4398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4398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JWT en todas las rutas (401/403/200)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4480560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3D91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56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Evidencia de rutas +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992624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5486400"/>
            <a:ext cx="1371600" cy="384048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046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08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A"/>
                </a:solidFill>
                <a:latin typeface="Calibri"/>
              </a:rPr>
              <a:t>Defensa: mismo JWT validado en 3 puntos (SPA→API Gateway→back-end) = defense in depth.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Etapa 3 · Mensajeria RabbitMQ — arquitectura (EP3/EP4)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91"/>
                </a:solidFill>
                <a:latin typeface="Calibri"/>
              </a:rPr>
              <a:t>PedidoService (publisher fail-safe) → exchanges → colas → @RabbitListener (ACK manual) → DLQ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703320" cy="31089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524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29000" cy="384048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Notificaciones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32888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pedido.notificacion  (Direct)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35224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Routing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36392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pedido.notificacion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5387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Cola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739896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notificaciones.pedidos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142232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DLQ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343400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notificaciones.pedidos.dlq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45920"/>
            <a:ext cx="3703320" cy="31089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524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783080"/>
            <a:ext cx="3429000" cy="384048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Documentos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331720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Exchange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532888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pedido.documento  (Topic)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2935224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Routing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3136392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pedido.documento.*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35387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Cola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3739896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documentos.pedidos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42232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DLQ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4343400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documentos.pedidos.dlq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645920"/>
            <a:ext cx="3703320" cy="31089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524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1783080"/>
            <a:ext cx="3429000" cy="384048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2331720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Exchange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532888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ticket  (Topic)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35224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Routing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136392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ticket.*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538728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Cola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739896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tickets.pedidos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142232"/>
            <a:ext cx="3374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A7A"/>
                </a:solidFill>
                <a:latin typeface="Calibri"/>
              </a:rPr>
              <a:t>DLQ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4343400"/>
            <a:ext cx="3374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Consolas"/>
              </a:rPr>
              <a:t>tickets.pedidos.dlq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Cadena: crear pedido → notificacion → documento generado → (total&gt;=1000) ticket abierto.  cancelar → notificacion + ticket de cancelacion.  cambiarEstado → evento de estado.</a:t>
            </a:r>
            <a:br/>
            <a:r>
              <a:t>Robustez: ACK manual + prefetch=1; hasta 3 reintentos (sleep); luego basicNack(requeue=false) → DLQ.  EventoPublisher no rompe el flujo HTTP si RabbitMQ cae (fail-safe).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Etapa 3 · Evidencia del cluster, colas y exchanges (EP4)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91"/>
                </a:solidFill>
                <a:latin typeface="Consolas"/>
              </a:rPr>
              <a:t>Cluster: rabbit@rabbitmq-node1  ·  RabbitMQ 3.13.7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Nodos (cluster)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rabbit@rabbitmq-node1  running=True  (disc)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03704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rabbit@rabbitmq-node2  running=True  (disc)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Exchanges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pedido.documento  [topic]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03704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pedido.documento.dlx  [direct]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24328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pedido.notificacion  [direct]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44952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pedido.notificacion.dlx  [direct]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65576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ticket  [topic]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394960" cy="365760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ticket.dlx  [direct]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Colas (3 + 3 DLQ)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documentos.pedidos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95020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3566160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C8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documentos.pedidos.dlq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95020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566160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3639312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notificaciones.pedidos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3950208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98848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C8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57200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notificaciones.pedidos.dlq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882896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59" y="4498848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1B7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457200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tickets.pedidos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882896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498848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6510">
            <a:solidFill>
              <a:srgbClr val="C8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7" y="4572000"/>
            <a:ext cx="3438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onsolas"/>
              </a:rPr>
              <a:t>tickets.pedidos.dlq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4882896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A7A"/>
                </a:solidFill>
                <a:latin typeface="Consolas"/>
              </a:rPr>
              <a:t>msgs=0 ready=0 consumers=0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A7A"/>
                </a:solidFill>
                <a:latin typeface="Calibri"/>
              </a:rPr>
              <a:t>[Captura pendiente: UI RabbitMQ → Queues + Nodes + docker compose ps]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Etapa 3 · Microservicio admin RabbitMQ :8091 (EP3: 13% + 10% + 7%)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91"/>
                </a:solidFill>
                <a:latin typeface="Calibri"/>
              </a:rPr>
              <a:t>RabbitAdminService (AmqpAdmin) encapsula la topologia; DTO con Bean Validation; rol PEDIDOS_ADMIN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813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/admin/queues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813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crea cola (DTO ColaRequest)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6537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/admin/queues/{nombre}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6537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elimina cola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94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/admin/exchanges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4942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crea exchange direct/topic/fanout/headers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15184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334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/admin/exchanges/{nombre}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334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elimina exchange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99232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175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/admin/bindings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vincula cola↔exchange (routing key)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79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4015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/admin/bindings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015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desvincula cola↔exchange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67328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78561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/admin/queues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85615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lista colas (mensajes/consumidores)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51376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169663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/admin/dlq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69663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lista DLQ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35424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5537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/admin/queues/{n}/messages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55371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espiar mensajes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19472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C8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937759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/admin/queues/{n}/messages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37759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purgar cola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1143000" cy="329184"/>
          </a:xfrm>
          <a:prstGeom prst="roundRect">
            <a:avLst>
              <a:gd name="adj" fmla="val 28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321807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onsolas"/>
              </a:rPr>
              <a:t>/admin/eventos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321807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A"/>
                </a:solidFill>
                <a:latin typeface="Calibri"/>
              </a:rPr>
              <a:t>publicar evento de prueba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Validacion: nombre vacio/corto/caracteres invalidos o type distinto de direct|topic|fanout|headers → HTTP 400 con detalle por campo.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Indicadores EP3 — cumplimiento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Nombres centralizados (clase @Configuration)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316736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7393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Beans Queue/Exchange/Binding por caso de uso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10512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Separacion negocio / config de mensajeria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304288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@RabbitListener agrupados por dominio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798064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552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ACK manual + NACK + DLQ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291840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API REST admin (POST/DELETE queues, exchanges, bindings)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785615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Encapsulacion en RabbitAdminService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279392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36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3D91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365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Validacion de entrada con DTO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773168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5248655"/>
            <a:ext cx="1280160" cy="384048"/>
          </a:xfrm>
          <a:prstGeom prst="roundRect">
            <a:avLst>
              <a:gd name="adj" fmla="val 28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6694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Checklist de demostracion EP4 (presentacion 5–10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070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API Manager en la nube en funcionamiento (rutas + JWT authorizer).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642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El frontend consume los endpoints via el API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214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El API Manager valida JWT: rechaza invalido (401), acepta valido (200).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786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Tenant en IDaaS + usuarios registrados (maria, jose).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358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Frontend usa OAuth 2.0 / OIDC para login y obtener JWT.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930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Backend y frontend desplegados, activos e integrados (EC2 + CloudFront).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020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Dos nodos RabbitMQ en cluster.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0740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Tres colas con sus DLQ funcionando.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6460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Exchanges direct y topic configurados.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457200" cy="384048"/>
          </a:xfrm>
          <a:prstGeom prst="roundRect">
            <a:avLst>
              <a:gd name="adj" fmla="val 28000"/>
            </a:avLst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21807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docker-compose levantando servicios de RabbitMQ.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5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3D91"/>
                </a:solidFill>
                <a:latin typeface="Calibri"/>
              </a:rPr>
              <a:t>Mensajeria en vivo: crear pedido → cadena notificacion/documento/ticket; demo DLQ con FORZAR_DLQ.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