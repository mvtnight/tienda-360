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B3D91"/>
                </a:solidFill>
                <a:latin typeface="Calibri"/>
              </a:rPr>
              <a:t>Pedidos360 — Evidencias EP2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06A7A"/>
                </a:solidFill>
                <a:latin typeface="Calibri"/>
              </a:rPr>
              <a:t>DSY1107 · Desarrollo Cloud Native I · presentación individual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Calibri"/>
              </a:rPr>
              <a:t>SPA Angular + MSAL (PKCE) → API Gateway (JWT) → ALB → EC2 Spring Boot</a:t>
            </a:r>
            <a:br/>
            <a:r>
              <a:t>Generado: 2026-09-22 19:29:47 · evidencia real contra el endpoint prod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Pedidos360 · Arquitectura y entorno (EP2)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91"/>
                </a:solidFill>
                <a:latin typeface="Calibri"/>
              </a:rPr>
              <a:t>Navegador (SPA + MSAL PKCE) → API Gateway (JWT authorizer) → ALB → EC2 Spring Boot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Tenant (IDaaS)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39" y="169164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0b4bca41-b3f5-427c-aeac-2dbcd055f91d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21240" y="16916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06A7A"/>
                </a:solidFill>
                <a:latin typeface="Calibri"/>
              </a:rPr>
              <a:t>Azure AD / Entra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2199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Dominio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221992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matiaspulgar.onmicrosoft.com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222199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06A7A"/>
                </a:solidFill>
                <a:latin typeface="Calibri"/>
              </a:rPr>
              <a:t>onmicrosoft.com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52344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SPA clientId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752344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54b906c8-47fb-4066-a49a-b3aa7f05427e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275234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06A7A"/>
                </a:solidFill>
                <a:latin typeface="Calibri"/>
              </a:rPr>
              <a:t>public client · PKCE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82696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API clientId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3282696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6da3f8f4-905c-4c76-abf0-c711d0dd3926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32826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06A7A"/>
                </a:solidFill>
                <a:latin typeface="Calibri"/>
              </a:rPr>
              <a:t>expose: access_as_user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130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Scope / Issuer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813048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api://6da3f8f4-905c-4c76-abf0-c711d0dd3926/access_as_user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381304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06A7A"/>
                </a:solidFill>
                <a:latin typeface="Calibri"/>
              </a:rPr>
              <a:t>https://sts.windows.net/0b4bca41-b3f5-427c-aeac-2dbcd055f91d/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434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API 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434340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https://pyb1wkfvcg.execute-api.us-east-2.amazonaws.com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43434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06A7A"/>
                </a:solidFill>
                <a:latin typeface="Calibri"/>
              </a:rPr>
              <a:t>region us-east-2 · stage prod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7375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Web pública (S3+CloudFront)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4873752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https://d2u1dalj9nm2b1.cloudfront.net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487375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06A7A"/>
                </a:solidFill>
                <a:latin typeface="Calibri"/>
              </a:rPr>
              <a:t>build production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04104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Backend EC2 (ALB)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5404104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http://pedidos360-alb-dev-2080390497.us-east-2.elb.amazonaws.com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540410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06A7A"/>
                </a:solidFill>
                <a:latin typeface="Calibri"/>
              </a:rPr>
              <a:t>health check público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8017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Usuarios de prueba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6318504"/>
            <a:ext cx="7498079" cy="384048"/>
          </a:xfrm>
          <a:prstGeom prst="roundRect">
            <a:avLst>
              <a:gd name="adj" fmla="val 28000"/>
            </a:avLst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maria@matiaspulgar.onmicrosoft.com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6318504"/>
            <a:ext cx="3291840" cy="384048"/>
          </a:xfrm>
          <a:prstGeom prst="roundRect">
            <a:avLst>
              <a:gd name="adj" fmla="val 28000"/>
            </a:avLst>
          </a:prstGeom>
          <a:solidFill>
            <a:srgbClr val="C85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rol PEDIDOS_VENDEDOR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6775704"/>
            <a:ext cx="7498079" cy="384048"/>
          </a:xfrm>
          <a:prstGeom prst="roundRect">
            <a:avLst>
              <a:gd name="adj" fmla="val 28000"/>
            </a:avLst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jose@matiaspulgar.onmicrosoft.com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40" y="6775704"/>
            <a:ext cx="3291840" cy="384048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rol PEDIDOS_ADMIN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 · Rutas del API Manager (API Gateway HTTP) — Indicador 1 (13%) · 2 · CORS (7%)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Rutas · JWT authorizer + scope access_as_user en TODAS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63624"/>
            <a:ext cx="6949440" cy="475488"/>
          </a:xfrm>
          <a:prstGeom prst="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36776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onsolas"/>
              </a:rPr>
              <a:t>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093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/health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9344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6A7A"/>
                </a:solidFill>
                <a:latin typeface="Calibri"/>
              </a:rPr>
              <a:t>backend /health 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6949440" cy="475488"/>
          </a:xfrm>
          <a:prstGeom prst="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176272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onsolas"/>
              </a:rPr>
              <a:t>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1488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/api/pedidos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39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6A7A"/>
                </a:solidFill>
                <a:latin typeface="Calibri"/>
              </a:rPr>
              <a:t>listar pedidos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42615"/>
            <a:ext cx="6949440" cy="475488"/>
          </a:xfrm>
          <a:prstGeom prst="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715768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onsolas"/>
              </a:rPr>
              <a:t>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688335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/api/pedidos/{id}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688335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6A7A"/>
                </a:solidFill>
                <a:latin typeface="Calibri"/>
              </a:rPr>
              <a:t>detalle por 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6949440" cy="475488"/>
          </a:xfrm>
          <a:prstGeom prst="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255263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onsolas"/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22783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/api/pedidos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227831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6A7A"/>
                </a:solidFill>
                <a:latin typeface="Calibri"/>
              </a:rPr>
              <a:t>crear pedido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21607"/>
            <a:ext cx="6949440" cy="475488"/>
          </a:xfrm>
          <a:prstGeom prst="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3794759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onsolas"/>
              </a:rPr>
              <a:t>PATCH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3767327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/api/pedidos/{id}/estado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767327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6A7A"/>
                </a:solidFill>
                <a:latin typeface="Calibri"/>
              </a:rPr>
              <a:t>cambiar estado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261103"/>
            <a:ext cx="6949440" cy="475488"/>
          </a:xfrm>
          <a:prstGeom prst="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4360" y="4334255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onsolas"/>
              </a:rPr>
              <a:t>DELETE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4306823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/api/pedidos/{id}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306823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6A7A"/>
                </a:solidFill>
                <a:latin typeface="Calibri"/>
              </a:rPr>
              <a:t>eliminar pedido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800599"/>
            <a:ext cx="6949440" cy="475488"/>
          </a:xfrm>
          <a:prstGeom prst="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94360" y="4873751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onsolas"/>
              </a:rPr>
              <a:t>ANY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484631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onsolas"/>
              </a:rPr>
              <a:t>/{proxy+}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846319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6A7A"/>
                </a:solidFill>
                <a:latin typeface="Calibri"/>
              </a:rPr>
              <a:t>catch-all con JWT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12344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Configuración CORS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19" y="158191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Consolas"/>
              </a:rPr>
              <a:t>AllowOrigins:  http://localhost:4200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19" y="1856231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Consolas"/>
              </a:rPr>
              <a:t>               https://d2u1dalj9nm2b1.cloudfront.net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19" y="213055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Consolas"/>
              </a:rPr>
              <a:t>AllowMethods:  GET, POST, PATCH, DELETE, OPTIONS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19" y="240487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Consolas"/>
              </a:rPr>
              <a:t>AllowHeaders:  Authorization, Content-Type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18119" y="2679191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Consolas"/>
              </a:rPr>
              <a:t>ExposeHeaders: Authorization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19" y="295351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Consolas"/>
              </a:rPr>
              <a:t>MaxAge:        3600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19" y="322783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Consolas"/>
              </a:rPr>
              <a:t>Reject OPTIONS con 204 en preflight vía API Gateway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828032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06A7A"/>
                </a:solidFill>
                <a:latin typeface="Calibri"/>
              </a:rPr>
              <a:t>[Captura pendiente: consola AWS → API Gateway → Routes + CORS]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 · Tenant de Azure AD (IDaaS) — Indicador 3 (10%)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D91"/>
                </a:solidFill>
                <a:latin typeface="Consolas"/>
              </a:rPr>
              <a:t>Tenant Directory ID: 0b4bca41-b3f5-427c-aeac-2dbcd055f91d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onsolas"/>
              </a:rPr>
              <a:t>Dominio: matiaspulgar.onmicrosoft.com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6A7A"/>
                </a:solidFill>
                <a:latin typeface="Calibri"/>
              </a:rPr>
              <a:t>Usuarios profesionales creados en el tenant y publicados en el access_token (claims y roles).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80360"/>
            <a:ext cx="7498079" cy="402336"/>
          </a:xfrm>
          <a:prstGeom prst="roundRect">
            <a:avLst>
              <a:gd name="adj" fmla="val 28000"/>
            </a:avLst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maria@matiaspulgar.onmicrosoft.com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880360"/>
            <a:ext cx="3291840" cy="402336"/>
          </a:xfrm>
          <a:prstGeom prst="roundRect">
            <a:avLst>
              <a:gd name="adj" fmla="val 28000"/>
            </a:avLst>
          </a:prstGeom>
          <a:solidFill>
            <a:srgbClr val="C85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rol PEDIDOS_VENDEDOR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55848"/>
            <a:ext cx="7498079" cy="402336"/>
          </a:xfrm>
          <a:prstGeom prst="roundRect">
            <a:avLst>
              <a:gd name="adj" fmla="val 28000"/>
            </a:avLst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jose@matiaspulgar.onmicrosoft.com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3355848"/>
            <a:ext cx="3291840" cy="402336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rol PEDIDOS_ADMIN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9476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06A7A"/>
                </a:solidFill>
                <a:latin typeface="Calibri"/>
              </a:rPr>
              <a:t>[Captura pendiente: Azure portal → Entra ID → Overview + Users]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 · Aplicaciones en el tenant — Indicador 4 (10%)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2743200" cy="457200"/>
          </a:xfrm>
          <a:prstGeom prst="roundRect">
            <a:avLst>
              <a:gd name="adj" fmla="val 28000"/>
            </a:avLst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SPA (público)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0" y="1307592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onsolas"/>
              </a:rPr>
              <a:t>54b906c8-47fb-4066-a49a-b3aa7f05427e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1307592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06A7A"/>
                </a:solidFill>
                <a:latin typeface="Calibri"/>
              </a:rPr>
              <a:t>redirect: localhost:4200 + CloudFront · public client flows 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47088"/>
            <a:ext cx="2743200" cy="457200"/>
          </a:xfrm>
          <a:prstGeom prst="roundRect">
            <a:avLst>
              <a:gd name="adj" fmla="val 28000"/>
            </a:avLst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pedidos-api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874519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onsolas"/>
              </a:rPr>
              <a:t>6da3f8f4-905c-4c76-abf0-c711d0dd3926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874519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06A7A"/>
                </a:solidFill>
                <a:latin typeface="Calibri"/>
              </a:rPr>
              <a:t>Expose an API → access_as_user · App roles PEDIDOS_ADMIN / _VENDEDOR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05456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A7A"/>
                </a:solidFill>
                <a:latin typeface="Calibri"/>
              </a:rPr>
              <a:t>Claim aud = api://6da3f8f4-... · scope access_as_user · roles pedidos_admin / pedidos_vendedor (fields en minúsculas, normalizados a ROLE_PEDIDOS_*).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16936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06A7A"/>
                </a:solidFill>
                <a:latin typeface="Calibri"/>
              </a:rPr>
              <a:t>[Captura pendiente: App registrations + Expose an API + App roles]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5 · Registro + Login (10%) · 6 · OIDC Authorization Code + PKCE (15%)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Calibri"/>
              </a:rPr>
              <a:t>MSAL v5 · interactionType Redirect · response_type=code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1. El SPA genera code_verifier aleatorio + code_challenge (SHA-256, S256).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756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2. /authorize?response_type=code&amp;code_challenge=...&amp;state=...&amp;nonce=... → login Azure.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5973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3. Azure redirige con el code; MSAL lo canjea en el token endpoint (sin secretos).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4. access_token aud=api://... scope=access_as_user → interceptor agrega Authorization: Bearer.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278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5. El API Manager y el backend REVALIDAN firma JWKS, issuer y audience.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033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A7A"/>
                </a:solidFill>
                <a:latin typeface="Calibri"/>
              </a:rPr>
              <a:t>Nunca se usa implicit: el token nunca va en la URL; code + PKCE protege contra replay/CSRF.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60520"/>
            <a:ext cx="11155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06A7A"/>
                </a:solidFill>
                <a:latin typeface="Calibri"/>
              </a:rPr>
              <a:t>[Captura pendiente: login + DevTools /authorize?...code_challenge=S256]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7/8 · JWT en todas las rutas — Matriz 401 / 403 / 200 / 201 (20% + 15%)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A7A"/>
                </a:solidFill>
                <a:latin typeface="Consolas"/>
              </a:rPr>
              <a:t>Endpoint: https://pyb1wkfvcg.execute-api.us-east-2.amazonaws.com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7780">
            <a:solidFill>
              <a:srgbClr val="B3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072" y="1426464"/>
            <a:ext cx="777240" cy="310896"/>
          </a:xfrm>
          <a:prstGeom prst="roundRect">
            <a:avLst>
              <a:gd name="adj" fmla="val 28000"/>
            </a:avLst>
          </a:prstGeom>
          <a:solidFill>
            <a:srgbClr val="B3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401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444752"/>
            <a:ext cx="2697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onsolas"/>
              </a:rPr>
              <a:t>GET /api/pedidos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73936"/>
            <a:ext cx="35204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7A43"/>
                </a:solidFill>
                <a:latin typeface="Consolas"/>
              </a:rPr>
              <a:t>esperado 401 · OK · 661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3520439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42933"/>
                </a:solidFill>
                <a:latin typeface="Consolas"/>
              </a:rPr>
              <a:t>(cuerpo vacío)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371600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7780">
            <a:solidFill>
              <a:srgbClr val="B3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1" y="1426464"/>
            <a:ext cx="777240" cy="310896"/>
          </a:xfrm>
          <a:prstGeom prst="roundRect">
            <a:avLst>
              <a:gd name="adj" fmla="val 28000"/>
            </a:avLst>
          </a:prstGeom>
          <a:solidFill>
            <a:srgbClr val="B3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401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9" y="1444752"/>
            <a:ext cx="2697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onsolas"/>
              </a:rPr>
              <a:t>GET /api/pedidos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1773936"/>
            <a:ext cx="35204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7A43"/>
                </a:solidFill>
                <a:latin typeface="Consolas"/>
              </a:rPr>
              <a:t>esperado 401 · OK · 166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19" y="2011680"/>
            <a:ext cx="3520439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42933"/>
                </a:solidFill>
                <a:latin typeface="Consolas"/>
              </a:rPr>
              <a:t>(cuerpo vacío)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371600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7780">
            <a:solidFill>
              <a:srgbClr val="B3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65592" y="1426464"/>
            <a:ext cx="777240" cy="310896"/>
          </a:xfrm>
          <a:prstGeom prst="roundRect">
            <a:avLst>
              <a:gd name="adj" fmla="val 28000"/>
            </a:avLst>
          </a:prstGeom>
          <a:solidFill>
            <a:srgbClr val="B3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444752"/>
            <a:ext cx="2697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onsolas"/>
              </a:rPr>
              <a:t>GET /api/pedidos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1773936"/>
            <a:ext cx="35204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7A43"/>
                </a:solidFill>
                <a:latin typeface="Consolas"/>
              </a:rPr>
              <a:t>esperado 401 · OK · 621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011680"/>
            <a:ext cx="3520439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42933"/>
                </a:solidFill>
                <a:latin typeface="Consolas"/>
              </a:rPr>
              <a:t>(cuerpo vacío)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779776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7780">
            <a:solidFill>
              <a:srgbClr val="1B7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6072" y="2834640"/>
            <a:ext cx="777240" cy="310896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2852928"/>
            <a:ext cx="2697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onsolas"/>
              </a:rPr>
              <a:t>GET /api/pedidos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182112"/>
            <a:ext cx="35204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7A43"/>
                </a:solidFill>
                <a:latin typeface="Consolas"/>
              </a:rPr>
              <a:t>esperado 200 · OK · 522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419856"/>
            <a:ext cx="3520439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42933"/>
                </a:solidFill>
                <a:latin typeface="Consolas"/>
              </a:rPr>
              <a:t>[</a:t>
            </a:r>
            <a:br/>
            <a:r>
              <a:t>  {</a:t>
            </a:r>
            <a:br/>
            <a:r>
              <a:t>    "id": 1,</a:t>
            </a:r>
            <a:br/>
            <a:r>
              <a:t>    "cliente": "Ana GÃ³mez",</a:t>
            </a:r>
            <a:br/>
            <a:r>
              <a:t>    "email": "ana@acme.com",</a:t>
            </a:r>
            <a:br/>
            <a:r>
              <a:t>    "items": [</a:t>
            </a:r>
            <a:br/>
            <a:r>
              <a:t>    ...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79" y="2779776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7780">
            <a:solidFill>
              <a:srgbClr val="1B7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70831" y="2834640"/>
            <a:ext cx="777240" cy="310896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9" y="2852928"/>
            <a:ext cx="2697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onsolas"/>
              </a:rPr>
              <a:t>GET /api/pedidos/7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19" y="3182112"/>
            <a:ext cx="35204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7A43"/>
                </a:solidFill>
                <a:latin typeface="Consolas"/>
              </a:rPr>
              <a:t>esperado 200 · OK · 470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19" y="3419856"/>
            <a:ext cx="3520439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42933"/>
                </a:solidFill>
                <a:latin typeface="Consolas"/>
              </a:rPr>
              <a:t>{</a:t>
            </a:r>
            <a:br/>
            <a:r>
              <a:t>  "id": 7,</a:t>
            </a:r>
            <a:br/>
            <a:r>
              <a:t>  "cliente": "Fixture Evidencia",</a:t>
            </a:r>
            <a:br/>
            <a:r>
              <a:t>  "email": "fx@acme.com",</a:t>
            </a:r>
            <a:br/>
            <a:r>
              <a:t>  "items": [</a:t>
            </a:r>
            <a:br/>
            <a:r>
              <a:t>    "Item"...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2779776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7780">
            <a:solidFill>
              <a:srgbClr val="1B7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65592" y="2834640"/>
            <a:ext cx="777240" cy="310896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201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2852928"/>
            <a:ext cx="2697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onsolas"/>
              </a:rPr>
              <a:t>POST /api/pedidos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3182112"/>
            <a:ext cx="35204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7A43"/>
                </a:solidFill>
                <a:latin typeface="Consolas"/>
              </a:rPr>
              <a:t>esperado 201 · OK · 827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3419856"/>
            <a:ext cx="3520439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42933"/>
                </a:solidFill>
                <a:latin typeface="Consolas"/>
              </a:rPr>
              <a:t>{</a:t>
            </a:r>
            <a:br/>
            <a:r>
              <a:t>  "id": 8,</a:t>
            </a:r>
            <a:br/>
            <a:r>
              <a:t>  "cliente": "Cliente Evidencia",</a:t>
            </a:r>
            <a:br/>
            <a:r>
              <a:t>  "email": "demo@acme.com",</a:t>
            </a:r>
            <a:br/>
            <a:r>
              <a:t>  "items": [</a:t>
            </a:r>
            <a:br/>
            <a:r>
              <a:t>    "Lap...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187952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7780">
            <a:solidFill>
              <a:srgbClr val="C8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76072" y="4242816"/>
            <a:ext cx="777240" cy="310896"/>
          </a:xfrm>
          <a:prstGeom prst="roundRect">
            <a:avLst>
              <a:gd name="adj" fmla="val 28000"/>
            </a:avLst>
          </a:prstGeom>
          <a:solidFill>
            <a:srgbClr val="C85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403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4261104"/>
            <a:ext cx="2697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onsolas"/>
              </a:rPr>
              <a:t>PATCH /api/pedidos/7/estado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4590288"/>
            <a:ext cx="35204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7A43"/>
                </a:solidFill>
                <a:latin typeface="Consolas"/>
              </a:rPr>
              <a:t>esperado 403 · OK · 709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828032"/>
            <a:ext cx="3520439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42933"/>
                </a:solidFill>
                <a:latin typeface="Consolas"/>
              </a:rPr>
              <a:t>(cuerpo vacío)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79" y="4187952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7780">
            <a:solidFill>
              <a:srgbClr val="C8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70831" y="4242816"/>
            <a:ext cx="777240" cy="310896"/>
          </a:xfrm>
          <a:prstGeom prst="roundRect">
            <a:avLst>
              <a:gd name="adj" fmla="val 28000"/>
            </a:avLst>
          </a:prstGeom>
          <a:solidFill>
            <a:srgbClr val="C85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403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79" y="4261104"/>
            <a:ext cx="2697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onsolas"/>
              </a:rPr>
              <a:t>DELETE /api/pedidos/7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19" y="4590288"/>
            <a:ext cx="35204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7A43"/>
                </a:solidFill>
                <a:latin typeface="Consolas"/>
              </a:rPr>
              <a:t>esperado 403 · OK · 451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19" y="4828032"/>
            <a:ext cx="3520439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42933"/>
                </a:solidFill>
                <a:latin typeface="Consolas"/>
              </a:rPr>
              <a:t>(cuerpo vacío)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92440" y="4187952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7780">
            <a:solidFill>
              <a:srgbClr val="1B7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65592" y="4242816"/>
            <a:ext cx="777240" cy="310896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200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4261104"/>
            <a:ext cx="2697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onsolas"/>
              </a:rPr>
              <a:t>PATCH /api/pedidos/7/estado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3879" y="4590288"/>
            <a:ext cx="35204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7A43"/>
                </a:solidFill>
                <a:latin typeface="Consolas"/>
              </a:rPr>
              <a:t>esperado 200 · OK · 838 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83879" y="4828032"/>
            <a:ext cx="3520439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42933"/>
                </a:solidFill>
                <a:latin typeface="Consolas"/>
              </a:rPr>
              <a:t>{</a:t>
            </a:r>
            <a:br/>
            <a:r>
              <a:t>  "id": 7,</a:t>
            </a:r>
            <a:br/>
            <a:r>
              <a:t>  "cliente": "Fixture Evidencia",</a:t>
            </a:r>
            <a:br/>
            <a:r>
              <a:t>  "email": "fx@acme.com",</a:t>
            </a:r>
            <a:br/>
            <a:r>
              <a:t>  "items": [</a:t>
            </a:r>
            <a:br/>
            <a:r>
              <a:t>    "Item"...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596128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7780">
            <a:solidFill>
              <a:srgbClr val="1B7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6072" y="5650992"/>
            <a:ext cx="777240" cy="310896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204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5669280"/>
            <a:ext cx="2697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onsolas"/>
              </a:rPr>
              <a:t>DELETE /api/pedidos/7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" y="5998464"/>
            <a:ext cx="35204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7A43"/>
                </a:solidFill>
                <a:latin typeface="Consolas"/>
              </a:rPr>
              <a:t>esperado 204 · OK · 547 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6236208"/>
            <a:ext cx="3520439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42933"/>
                </a:solidFill>
                <a:latin typeface="Consolas"/>
              </a:rPr>
              <a:t>(cuerpo vacío)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297679" y="5596128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7780">
            <a:solidFill>
              <a:srgbClr val="1B7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370831" y="5650992"/>
            <a:ext cx="777240" cy="310896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12079" y="5669280"/>
            <a:ext cx="2697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onsolas"/>
              </a:rPr>
              <a:t>OPTIONS /api/pedidos (preflight CORS)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9119" y="5998464"/>
            <a:ext cx="35204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7A43"/>
                </a:solidFill>
                <a:latin typeface="Consolas"/>
              </a:rPr>
              <a:t>esperado 204 · OK · 0 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19" y="6236208"/>
            <a:ext cx="3520439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42933"/>
                </a:solidFill>
                <a:latin typeface="Consolas"/>
              </a:rPr>
              <a:t>Access-Control-Allow-Origin: http://localhost:4200</a:t>
            </a:r>
            <a:br/>
            <a:r>
              <a:t>Access-Control-Allow-Methods: DELETE,GET,OPTI...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92440" y="5596128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17780">
            <a:solidFill>
              <a:srgbClr val="1B7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8165592" y="5650992"/>
            <a:ext cx="777240" cy="310896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200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06840" y="5669280"/>
            <a:ext cx="2697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onsolas"/>
              </a:rPr>
              <a:t>GET /health (ALB directo)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83879" y="5998464"/>
            <a:ext cx="35204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7A43"/>
                </a:solidFill>
                <a:latin typeface="Consolas"/>
              </a:rPr>
              <a:t>esperado 200 · OK · 0 ms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83879" y="6236208"/>
            <a:ext cx="3520439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42933"/>
                </a:solidFill>
                <a:latin typeface="Consolas"/>
              </a:rPr>
              <a:t>{</a:t>
            </a:r>
            <a:br/>
            <a:r>
              <a:t>  "status": "OK"</a:t>
            </a:r>
            <a:br/>
            <a:r>
              <a:t>}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54864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06A7A"/>
                </a:solidFill>
                <a:latin typeface="Calibri"/>
              </a:rPr>
              <a:t>[Opcional: captura DevTools Red → petición a /api/pedidos → cabeceras Authorization: Bearer ...]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Indicadores EP2 — cumplimiento 8/8 (100%)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3D91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371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Rutas del API Manager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1408176"/>
            <a:ext cx="1371600" cy="384048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13%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836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3D91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883664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CORS en el API 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1920240"/>
            <a:ext cx="1371600" cy="384048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9572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3D91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95728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Crear tenant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2432304"/>
            <a:ext cx="1371600" cy="384048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3D91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077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Configurar app en tenant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2944368"/>
            <a:ext cx="1371600" cy="384048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419856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3D91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419856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Flujo registro + login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0" y="3456432"/>
            <a:ext cx="1371600" cy="384048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31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3D91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OIDC Authorization Code + PKCE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3968496"/>
            <a:ext cx="1371600" cy="384048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4398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3D91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443984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JWT en todas las rutas (401/403/200)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4480560"/>
            <a:ext cx="1371600" cy="384048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20%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95604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3D91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56048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Evidencia de rutas + JSON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0" y="4992624"/>
            <a:ext cx="1371600" cy="384048"/>
          </a:xfrm>
          <a:prstGeom prst="roundRect">
            <a:avLst>
              <a:gd name="adj" fmla="val 28000"/>
            </a:avLst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15%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18320" y="5486400"/>
            <a:ext cx="1371600" cy="384048"/>
          </a:xfrm>
          <a:prstGeom prst="roundRect">
            <a:avLst>
              <a:gd name="adj" fmla="val 28000"/>
            </a:avLst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504688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TOTAL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1081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6A7A"/>
                </a:solidFill>
                <a:latin typeface="Calibri"/>
              </a:rPr>
              <a:t>Defensa: mismo JWT validado en 3 puntos (SPA→API Gateway→back-end) = defense in depth.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